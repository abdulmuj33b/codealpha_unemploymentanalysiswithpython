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Hello — I'm presenting a professional analysis of unemployment in India for 2019–2020. </a:t>
            </a:r>
          </a:p>
          <a:p>
            <a:r>
              <a:t>The goals are: quantify the lockdown impact on unemployment, identify seasonal and temporal patterns, </a:t>
            </a:r>
          </a:p>
          <a:p>
            <a:r>
              <a:t>and produce short-term forecasts to inform policy decisions.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used two main source files: Unemployment in India.xls and Unemployment_Rate_upto_11_2020.xls. </a:t>
            </a:r>
          </a:p>
          <a:p>
            <a:r>
              <a:t>The files had inconsistent headers with spaces, parentheses, and percent signs. </a:t>
            </a:r>
          </a:p>
          <a:p>
            <a:r>
              <a:t>For example: ' Estimated Unemployment Rate (%)' becomes 'estimated_unemployment_rate'. </a:t>
            </a:r>
          </a:p>
          <a:p/>
          <a:p>
            <a:r>
              <a:t>We parse dates with day-first format (DD-MM-YYYY). The original data showed dates like 31-05-2019, </a:t>
            </a:r>
          </a:p>
          <a:p>
            <a:r>
              <a:t>which we convert to standard Python datetime format: 2019-05-31. </a:t>
            </a:r>
          </a:p>
          <a:p/>
          <a:p>
            <a:r>
              <a:t>We coerce numeric columns (unemployment rate, employed, participation rate) using pd.to_numeric() </a:t>
            </a:r>
          </a:p>
          <a:p>
            <a:r>
              <a:t>with error='coerce', which converts invalid values to NaN. We then drop rows with missing values </a:t>
            </a:r>
          </a:p>
          <a:p>
            <a:r>
              <a:t>in critical fields (date, region, unemployment rate).</a:t>
            </a:r>
          </a:p>
          <a:p/>
          <a:p>
            <a:r>
              <a:t>We concatenate both files using pd.concat() and remove duplicates with drop_duplicates(). </a:t>
            </a:r>
          </a:p>
          <a:p>
            <a:r>
              <a:t>The final result: 3,494 clean rows spanning May 2019 to October 2020, with 18 unique monthly observations.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created time-based features by extracting year and month from the date column. </a:t>
            </a:r>
          </a:p>
          <a:p/>
          <a:p>
            <a:r>
              <a:t>COVID periods were defined based on major lockdown dates in India: </a:t>
            </a:r>
          </a:p>
          <a:p>
            <a:r>
              <a:t>Pre-COVID covers before March 25, 2020 (when lockdown began). </a:t>
            </a:r>
          </a:p>
          <a:p>
            <a:r>
              <a:t>Lockdown covers March 25 to June 30, 2020 (national lockdown period). </a:t>
            </a:r>
          </a:p>
          <a:p>
            <a:r>
              <a:t>Post-Lockdown covers after July 1, 2020 (unlock phases).</a:t>
            </a:r>
          </a:p>
          <a:p/>
          <a:p>
            <a:r>
              <a:t>For statistical inference, we use Welch's t-test to compare unemployment before and during lockdown. </a:t>
            </a:r>
          </a:p>
          <a:p>
            <a:r>
              <a:t>Welch's t-test doesn't assume equal variances between groups, making it robust for heteroskedastic </a:t>
            </a:r>
          </a:p>
          <a:p>
            <a:r>
              <a:t>time-series data like ours.</a:t>
            </a:r>
          </a:p>
          <a:p/>
          <a:p>
            <a:r>
              <a:t>For forecasting, we use SARIMA (Seasonal ARIMA) to capture both trend and seasonality. </a:t>
            </a:r>
          </a:p>
          <a:p>
            <a:r>
              <a:t>The order (0,1,1)×(0,1,1,12) means: </a:t>
            </a:r>
          </a:p>
          <a:p>
            <a:r>
              <a:t>  - Non-seasonal: 0 AR terms, 1 differencing, 1 MA term</a:t>
            </a:r>
          </a:p>
          <a:p>
            <a:r>
              <a:t>  - Seasonal: 0 seasonal AR, 1 seasonal differencing, 1 seasonal MA, period 12 (monthly)</a:t>
            </a:r>
          </a:p>
          <a:p/>
          <a:p>
            <a:r>
              <a:t>We implement robust fallbacks: if SARIMA fails to converge, try ARIMA(1,1,1); </a:t>
            </a:r>
          </a:p>
          <a:p>
            <a:r>
              <a:t>if that fails, use a simple AR(1) model estimated by OLS regression.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The national trend chart (national_trend.png) displays the daily unemployment rate from May 2019 onwards. </a:t>
            </a:r>
          </a:p>
          <a:p>
            <a:r>
              <a:t>It shows a clear spike in unemployment from March 2020 onwards, with a peak during the lockdown </a:t>
            </a:r>
          </a:p>
          <a:p>
            <a:r>
              <a:t>period (April–June 2020). After June, unemployment gradually declines but remains elevated compared </a:t>
            </a:r>
          </a:p>
          <a:p>
            <a:r>
              <a:t>to pre-COVID levels. A gray shaded region highlights the national lockdown period (Mar 25 – Jun 30).</a:t>
            </a:r>
          </a:p>
          <a:p/>
          <a:p>
            <a:r>
              <a:t>The rural vs urban comparison (rural_urban_trend.png) overlays unemployment trends for rural and urban areas. </a:t>
            </a:r>
          </a:p>
          <a:p>
            <a:r>
              <a:t>Urban unemployment is significantly more volatile, with sharper spikes and drops, while rural unemployment </a:t>
            </a:r>
          </a:p>
          <a:p>
            <a:r>
              <a:t>is more stable. This reflects the higher exposure of urban informal workers to sudden economic shocks </a:t>
            </a:r>
          </a:p>
          <a:p>
            <a:r>
              <a:t>(e.g., factory closures, retail shutdowns).</a:t>
            </a:r>
          </a:p>
          <a:p/>
          <a:p>
            <a:r>
              <a:t>The seasonality plot (seasonality.png) shows average unemployment by month across the entire dataset. </a:t>
            </a:r>
          </a:p>
          <a:p>
            <a:r>
              <a:t>Recurring monthly patterns indicate that certain months historically have higher unemployment. </a:t>
            </a:r>
          </a:p>
          <a:p>
            <a:r>
              <a:t>This is typical for informal sectors with seasonal agricultural and trade cycles, as well as </a:t>
            </a:r>
          </a:p>
          <a:p>
            <a:r>
              <a:t>seasonal demand variations (e.g., increased construction in certain seasons).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performed a Welch's t-test comparing unemployment rates in the Pre-COVID period versus the Lockdown period. </a:t>
            </a:r>
          </a:p>
          <a:p/>
          <a:p>
            <a:r>
              <a:t>The t-statistic is -16.64 with a p-value of 2.1e-56. This p-value is extraordinarily small </a:t>
            </a:r>
          </a:p>
          <a:p>
            <a:r>
              <a:t>(essentially zero), providing overwhelming evidence that unemployment was significantly higher </a:t>
            </a:r>
          </a:p>
          <a:p>
            <a:r>
              <a:t>during the lockdown than before. We reject the null hypothesis with extreme confidence.</a:t>
            </a:r>
          </a:p>
          <a:p/>
          <a:p>
            <a:r>
              <a:t>The COVID impact analysis shows absolute and percentage changes in unemployment across defined periods. </a:t>
            </a:r>
          </a:p>
          <a:p>
            <a:r>
              <a:t>Our findings:</a:t>
            </a:r>
          </a:p>
          <a:p>
            <a:r>
              <a:t>  - All areas combined: unemployment increased by 81.4% during lockdown</a:t>
            </a:r>
          </a:p>
          <a:p>
            <a:r>
              <a:t>  - Rural areas: increased by 99.9% (nearly doubled)</a:t>
            </a:r>
          </a:p>
          <a:p>
            <a:r>
              <a:t>  - Urban areas: increased by 77.8%</a:t>
            </a:r>
          </a:p>
          <a:p/>
          <a:p>
            <a:r>
              <a:t>This suggests the lockdown disproportionately affected rural economies in absolute terms (99.9%), </a:t>
            </a:r>
          </a:p>
          <a:p>
            <a:r>
              <a:t>though urban areas were also severely impacted (77.8%). The higher rural impact may reflect </a:t>
            </a:r>
          </a:p>
          <a:p>
            <a:r>
              <a:t>dependence on migration-based income and reduced remittances during lockdown.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fit a stabilized SARIMA model using order (0,1,1) for non-seasonal and (0,1,1,12) for seasonal components. </a:t>
            </a:r>
          </a:p>
          <a:p>
            <a:r>
              <a:t>The order was chosen to reduce explosive forecasts typical with sparse data. </a:t>
            </a:r>
          </a:p>
          <a:p/>
          <a:p>
            <a:r>
              <a:t>The 6-month forecast (November 2020 to April 2021) shows:</a:t>
            </a:r>
          </a:p>
          <a:p>
            <a:r>
              <a:t>  - November 2020: ~7.6% (early recovery)</a:t>
            </a:r>
          </a:p>
          <a:p>
            <a:r>
              <a:t>  - December 2020: ~7.2% (further decline)</a:t>
            </a:r>
          </a:p>
          <a:p>
            <a:r>
              <a:t>  - January 2021: ~7.5% (seasonal uptick)</a:t>
            </a:r>
          </a:p>
          <a:p>
            <a:r>
              <a:t>  - February 2021: ~7.6%</a:t>
            </a:r>
          </a:p>
          <a:p>
            <a:r>
              <a:t>  - March 2021: ~8.5%</a:t>
            </a:r>
          </a:p>
          <a:p>
            <a:r>
              <a:t>  - April 2021: ~21% (sharp rise)</a:t>
            </a:r>
          </a:p>
          <a:p/>
          <a:p>
            <a:r>
              <a:t>This pattern suggests initial post-lockdown recovery through early 2021, followed by a sharp rise </a:t>
            </a:r>
          </a:p>
          <a:p>
            <a:r>
              <a:t>in April. The April spike may reflect seasonal factors or structural labor-market shifts. </a:t>
            </a:r>
          </a:p>
          <a:p/>
          <a:p>
            <a:r>
              <a:t>Important caveats: The sample period is only 18 months, and the forecast assumes no major structural breaks. </a:t>
            </a:r>
          </a:p>
          <a:p>
            <a:r>
              <a:t>However, the pandemic itself represents a significant structural break, so longer-term forecasts beyond </a:t>
            </a:r>
          </a:p>
          <a:p>
            <a:r>
              <a:t>6 months may be unreliable. Use these forecasts as a baseline subject to revision with new data.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Based on our findings, we recommend:</a:t>
            </a:r>
          </a:p>
          <a:p/>
          <a:p>
            <a:r>
              <a:t>1. Counter-cyclical urban employment programs: Urban unemployment is highly sensitive to economic shocks. </a:t>
            </a:r>
          </a:p>
          <a:p>
            <a:r>
              <a:t>   Targeted intervention programs during crises can mitigate damage and stabilize urban economies.</a:t>
            </a:r>
          </a:p>
          <a:p/>
          <a:p>
            <a:r>
              <a:t>2. Expand rural employment guarantee schemes: Rural workers typically lack unemployment buffers. </a:t>
            </a:r>
          </a:p>
          <a:p>
            <a:r>
              <a:t>   Robust safety nets like MGNREGA should be expanded and strengthened during economic downturns.</a:t>
            </a:r>
          </a:p>
          <a:p/>
          <a:p>
            <a:r>
              <a:t>3. Digital inclusion and remote-work skills: The pandemic highlighted the importance of digital </a:t>
            </a:r>
          </a:p>
          <a:p>
            <a:r>
              <a:t>   infrastructure and remote work capabilities, especially for informal-sector workers who face </a:t>
            </a:r>
          </a:p>
          <a:p>
            <a:r>
              <a:t>   movement restrictions during crises.</a:t>
            </a:r>
          </a:p>
          <a:p/>
          <a:p>
            <a:r>
              <a:t>Regarding limitations:</a:t>
            </a:r>
          </a:p>
          <a:p/>
          <a:p>
            <a:r>
              <a:t>1. Small sample (18 months): Our dataset spans only 18 months, limiting seasonal modeling precision. </a:t>
            </a:r>
          </a:p>
          <a:p>
            <a:r>
              <a:t>   Ideally, we'd have 3–5 years for robust seasonal patterns.</a:t>
            </a:r>
          </a:p>
          <a:p/>
          <a:p>
            <a:r>
              <a:t>2. Informal sector underreported: Unemployment statistics typically miss informal workers, who comprise </a:t>
            </a:r>
          </a:p>
          <a:p>
            <a:r>
              <a:t>   a large share of Indian employment. Our estimates likely understate true unemployment.</a:t>
            </a:r>
          </a:p>
          <a:p/>
          <a:p>
            <a:r>
              <a:t>3. Structural break: The pandemic was a structural break that violates standard time-series assumptions. </a:t>
            </a:r>
          </a:p>
          <a:p>
            <a:r>
              <a:t>   This limits forecast reliability beyond 6 months.</a:t>
            </a:r>
          </a:p>
          <a:p/>
          <a:p>
            <a:r>
              <a:t>4. Aggregation hides heterogeneity: National aggregation masks important state-level variations. </a:t>
            </a:r>
          </a:p>
          <a:p>
            <a:r>
              <a:t>   For instance, some states recovered faster than others due to differences in policy response, </a:t>
            </a:r>
          </a:p>
          <a:p>
            <a:r>
              <a:t>   industry composition, and labor demographics.</a:t>
            </a:r>
          </a:p>
          <a:p/>
          <a:p>
            <a:r>
              <a:t>Next steps: Incorporate state-level covariates (industry composition, urbanization rates), </a:t>
            </a:r>
          </a:p>
          <a:p>
            <a:r>
              <a:t>use hierarchical time-series models, or include leading indicators like GST collections or </a:t>
            </a:r>
          </a:p>
          <a:p>
            <a:r>
              <a:t>labor-force participation data to improve forecasts.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Professional Unemployment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India: 2019–2020 | COVID-19 Impact &amp;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Slide 2: Data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Key Data Cleaning Steps: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Source files: Unemployment in India.xls, Unemployment_Rate_upto_11_2020.xls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Inconsistent headers normalized: date, unemployment_rate, region, area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Date parsing: day-first format (31-05-2019 → 2019-05-31)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Numeric coercion: handled missing/non-numeric values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Deduplication: removed duplicate records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Result: 3,494 clean rows, 18 unique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Slide 3: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Methodology Overview: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Aggregation: national, state (region), area (rural/urban)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Feature engineering: year, month, COVID periods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Pre-COVID: before 2020-03-01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Lockdown: 2020-03-01 to 2020-06-30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Post-Lockdown: after 2020-07-01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Statistical test: Welch's t-test (unequal variances)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Forecasting: SARIMA(0,1,1)×(0,1,1,12)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Fallbacks: ARIMA(1,1,1), AR(1) 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Slide 4: Key Visuals</a:t>
            </a:r>
          </a:p>
        </p:txBody>
      </p:sp>
      <p:pic>
        <p:nvPicPr>
          <p:cNvPr id="3" name="Picture 2" descr="nation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Visualizations Generated: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National Trend: shows unemployment spike during lockdown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Rural vs Urban: urban more volatile than rural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Seasonality: recurring monthly patterns (informal sector)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Slide 5: COVID Impact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Statistical Results: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Welch's t-test: t-statistic = -16.64, p-value = 2.1e-56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Result: HIGHLY SIGNIFICANT (p &lt; 0.001)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COVID Impact Summary: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All areas: +81.4% increase during lockdown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Rural areas: +99.9% increase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Urban areas: +77.8% increase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Slide 6: Forecast Results</a:t>
            </a:r>
          </a:p>
        </p:txBody>
      </p:sp>
      <p:pic>
        <p:nvPicPr>
          <p:cNvPr id="3" name="Picture 2" descr="sarima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Forecasting Results: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Model: Stabilized SARIMA(0,1,1)×(0,1,1,12)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Forecast horizon: 6 months (Nov 2020 – Apr 2021)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Predicted unemployment: 7–22% range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• Interpretation: gradual recovery with seasonal variations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Slide 7: Policy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Policy Recommendations: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✓ Counter-cyclical urban employment programs during crises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✓ Expand rural employment guarantee schemes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✓ Digital inclusion &amp; remote-work skills training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Limitations: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✗ Small sample (18 months), informal sector underreported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✗ Model assumes no structural breaks (pandemic violated this)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✗ Aggregation choices may mask state-level heterogeneity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